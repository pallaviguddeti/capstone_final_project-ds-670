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6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7" d="100"/>
          <a:sy n="57" d="100"/>
        </p:scale>
        <p:origin x="15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FA8F9-D4E9-4FD6-AD75-76D477F643F4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8CF5E-07B5-4C7D-8C80-9F52021F9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27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8CF5E-07B5-4C7D-8C80-9F52021F999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21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3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1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2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2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0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0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5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36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0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6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0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464E9B-C79E-467F-AEA9-CE056F03C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5678" y="0"/>
            <a:ext cx="385832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176" y="1298448"/>
            <a:ext cx="6054610" cy="3255264"/>
          </a:xfrm>
        </p:spPr>
        <p:txBody>
          <a:bodyPr>
            <a:normAutofit/>
          </a:bodyPr>
          <a:lstStyle/>
          <a:p>
            <a:r>
              <a:rPr lang="en-US" sz="5400" b="1" dirty="0"/>
              <a:t>Capstone Project</a:t>
            </a:r>
            <a:r>
              <a:rPr lang="en-US" sz="5400" dirty="0"/>
              <a:t>: Temperature Forecasting using SARIMA Model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6053" y="1724311"/>
            <a:ext cx="2537460" cy="1704689"/>
          </a:xfrm>
        </p:spPr>
        <p:txBody>
          <a:bodyPr/>
          <a:lstStyle/>
          <a:p>
            <a:r>
              <a:rPr sz="4800" b="1" dirty="0"/>
              <a:t>What is SARIMA?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SARIMA (Seasonal Autoregressive Integrated Moving Average) is an extension of ARIMA that supports seasonal data patterns. It models both trend and seasonality.</a:t>
            </a:r>
          </a:p>
          <a:p>
            <a:endParaRPr dirty="0"/>
          </a:p>
          <a:p>
            <a:r>
              <a:rPr dirty="0"/>
              <a:t>Components:</a:t>
            </a:r>
          </a:p>
          <a:p>
            <a:r>
              <a:rPr dirty="0"/>
              <a:t>- AR (Autoregressive): Dependence on previous values</a:t>
            </a:r>
          </a:p>
          <a:p>
            <a:r>
              <a:rPr dirty="0"/>
              <a:t>- I (Integrated): Differencing to remove trend</a:t>
            </a:r>
          </a:p>
          <a:p>
            <a:r>
              <a:rPr dirty="0"/>
              <a:t>- MA (Moving Average): Dependence on previous error terms</a:t>
            </a:r>
          </a:p>
          <a:p>
            <a:r>
              <a:rPr dirty="0"/>
              <a:t>- Seasonal: Captures repeating patterns (e.g., daily, weekly)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81E05-7431-49CC-A688-DD025565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analyze and forecast hourly temperature variations using SARIMA and SARIMAX models.</a:t>
            </a:r>
          </a:p>
          <a:p>
            <a:r>
              <a:rPr lang="en-GB" dirty="0"/>
              <a:t>To capture both trend and seasonal patterns in the temperature time series data.</a:t>
            </a:r>
          </a:p>
          <a:p>
            <a:r>
              <a:rPr lang="en-GB" dirty="0"/>
              <a:t>To compare the effectiveness of SARIMA vs ARIMA in handling seasonal data.</a:t>
            </a:r>
          </a:p>
          <a:p>
            <a:r>
              <a:rPr lang="en-GB" dirty="0"/>
              <a:t>To visualize and interpret the forecasted temperature trends for the next 24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SARIMA Model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103327" cy="4525963"/>
          </a:xfrm>
        </p:spPr>
        <p:txBody>
          <a:bodyPr>
            <a:normAutofit/>
          </a:bodyPr>
          <a:lstStyle/>
          <a:p>
            <a:r>
              <a:rPr dirty="0"/>
              <a:t>The SARIMA model combines both trend and seasonality components.</a:t>
            </a:r>
          </a:p>
          <a:p>
            <a:r>
              <a:rPr dirty="0"/>
              <a:t>Parameters used:</a:t>
            </a:r>
          </a:p>
          <a:p>
            <a:r>
              <a:rPr dirty="0"/>
              <a:t>- </a:t>
            </a:r>
            <a:r>
              <a:rPr lang="en-US" dirty="0"/>
              <a:t> </a:t>
            </a:r>
            <a:r>
              <a:rPr dirty="0"/>
              <a:t>order = (5, 1, 0)</a:t>
            </a:r>
          </a:p>
          <a:p>
            <a:r>
              <a:rPr dirty="0"/>
              <a:t>- </a:t>
            </a:r>
            <a:r>
              <a:rPr lang="en-US" dirty="0"/>
              <a:t> </a:t>
            </a:r>
            <a:r>
              <a:rPr dirty="0"/>
              <a:t>seasonal_order = (1, 1, 1, 24)</a:t>
            </a:r>
          </a:p>
          <a:p>
            <a:r>
              <a:rPr dirty="0"/>
              <a:t>The model was fitted using historical hourly temperature data to predict the next 24 hours.</a:t>
            </a:r>
          </a:p>
          <a:p>
            <a:r>
              <a:rPr dirty="0"/>
              <a:t>The forecast includes 95% confidence intervals.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Forecast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337502" cy="4525963"/>
          </a:xfrm>
        </p:spPr>
        <p:txBody>
          <a:bodyPr>
            <a:normAutofit/>
          </a:bodyPr>
          <a:lstStyle/>
          <a:p>
            <a:r>
              <a:rPr dirty="0"/>
              <a:t>The visualization shows:</a:t>
            </a:r>
          </a:p>
          <a:p>
            <a:r>
              <a:rPr dirty="0"/>
              <a:t>- Blue line: Observed hourly temperature data.</a:t>
            </a:r>
          </a:p>
          <a:p>
            <a:r>
              <a:rPr dirty="0"/>
              <a:t>- Red line: Predicted temperature for next 24 hours.</a:t>
            </a:r>
          </a:p>
          <a:p>
            <a:r>
              <a:rPr dirty="0"/>
              <a:t>- Pink shaded region: 95% confidence interval.</a:t>
            </a:r>
          </a:p>
          <a:p>
            <a:endParaRPr dirty="0"/>
          </a:p>
          <a:p>
            <a:r>
              <a:rPr dirty="0"/>
              <a:t>This helps in understanding how the model anticipates short-term changes in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55AE-11FA-4A30-BFAF-3DE13674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SARIMA MODEL INSIGHTS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3AC46-F38D-4D9C-A5C3-B216A19B9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Captures daily seasonal patterns in temperature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Adjusts for trend and noise using AR and MA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Shows lower AIC/BIC, indicating a better model 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Provides accurate 24-hour forecasts with confidence intervals.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Outperforms ARIMA for seasonal time series.</a:t>
            </a:r>
          </a:p>
        </p:txBody>
      </p:sp>
    </p:spTree>
    <p:extLst>
      <p:ext uri="{BB962C8B-B14F-4D97-AF65-F5344CB8AC3E}">
        <p14:creationId xmlns:p14="http://schemas.microsoft.com/office/powerpoint/2010/main" val="3113807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3DE1-7E40-4D5C-8F2E-BDC043E5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AIC and BIC in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BA62-5CFE-4EF7-8C07-E498E761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AIC (Akaike Information Criterion):</a:t>
            </a:r>
          </a:p>
          <a:p>
            <a:r>
              <a:rPr lang="en-GB" dirty="0"/>
              <a:t>Evaluates model fit while penalizing complexity.</a:t>
            </a:r>
          </a:p>
          <a:p>
            <a:r>
              <a:rPr lang="en-GB" dirty="0"/>
              <a:t>→ Lower AIC = Better balance between accuracy and simplicity.</a:t>
            </a:r>
          </a:p>
          <a:p>
            <a:r>
              <a:rPr lang="en-GB" dirty="0"/>
              <a:t>BIC (Bayesian Information Criterion):</a:t>
            </a:r>
          </a:p>
          <a:p>
            <a:r>
              <a:rPr lang="en-GB" dirty="0"/>
              <a:t>Similar to AIC but applies a stronger penalty for extra parameters.</a:t>
            </a:r>
          </a:p>
          <a:p>
            <a:r>
              <a:rPr lang="en-GB" dirty="0"/>
              <a:t>→ Lower BIC = Simpler, more efficient model.</a:t>
            </a:r>
          </a:p>
          <a:p>
            <a:r>
              <a:rPr lang="en-GB" dirty="0"/>
              <a:t>Key Insight: Both metrics help identify the most suitable SARIMA configuration.</a:t>
            </a:r>
          </a:p>
          <a:p>
            <a:r>
              <a:rPr lang="en-GB" dirty="0"/>
              <a:t>Models with lowest AIC and BIC are generally preferred.</a:t>
            </a:r>
          </a:p>
        </p:txBody>
      </p:sp>
    </p:spTree>
    <p:extLst>
      <p:ext uri="{BB962C8B-B14F-4D97-AF65-F5344CB8AC3E}">
        <p14:creationId xmlns:p14="http://schemas.microsoft.com/office/powerpoint/2010/main" val="68622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ARIMA vs SARIMA (Performance Perspective)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57731"/>
            <a:ext cx="7549376" cy="3968432"/>
          </a:xfrm>
        </p:spPr>
        <p:txBody>
          <a:bodyPr>
            <a:normAutofit/>
          </a:bodyPr>
          <a:lstStyle/>
          <a:p>
            <a:r>
              <a:rPr dirty="0"/>
              <a:t>When applied to hourly temperature data:</a:t>
            </a:r>
          </a:p>
          <a:p>
            <a:r>
              <a:rPr dirty="0"/>
              <a:t>- ARIMA captures short-term trends but fails to capture daily temperature cycles.</a:t>
            </a:r>
          </a:p>
          <a:p>
            <a:r>
              <a:rPr dirty="0"/>
              <a:t>- SARIMA adjusts for seasonality (24-hour pattern), improving forecast accuracy.</a:t>
            </a:r>
          </a:p>
          <a:p>
            <a:r>
              <a:rPr dirty="0"/>
              <a:t>- SARIMA generally yields lower RMSE (Root Mean Squared Error) for seasonal data.</a:t>
            </a:r>
          </a:p>
          <a:p>
            <a:r>
              <a:rPr dirty="0"/>
              <a:t>In summary: SARIMA is preferred for time series with strong seasonal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B05C-B6DE-4097-B2B2-0C64AE10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Results and Evaluation 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B36F1A-C25C-4268-A175-8616FBF2B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182126"/>
              </p:ext>
            </p:extLst>
          </p:nvPr>
        </p:nvGraphicFramePr>
        <p:xfrm>
          <a:off x="853066" y="3302969"/>
          <a:ext cx="8066088" cy="1828800"/>
        </p:xfrm>
        <a:graphic>
          <a:graphicData uri="http://schemas.openxmlformats.org/drawingml/2006/table">
            <a:tbl>
              <a:tblPr/>
              <a:tblGrid>
                <a:gridCol w="2688696">
                  <a:extLst>
                    <a:ext uri="{9D8B030D-6E8A-4147-A177-3AD203B41FA5}">
                      <a16:colId xmlns:a16="http://schemas.microsoft.com/office/drawing/2014/main" val="3908453060"/>
                    </a:ext>
                  </a:extLst>
                </a:gridCol>
                <a:gridCol w="2688696">
                  <a:extLst>
                    <a:ext uri="{9D8B030D-6E8A-4147-A177-3AD203B41FA5}">
                      <a16:colId xmlns:a16="http://schemas.microsoft.com/office/drawing/2014/main" val="2175300373"/>
                    </a:ext>
                  </a:extLst>
                </a:gridCol>
                <a:gridCol w="2688696">
                  <a:extLst>
                    <a:ext uri="{9D8B030D-6E8A-4147-A177-3AD203B41FA5}">
                      <a16:colId xmlns:a16="http://schemas.microsoft.com/office/drawing/2014/main" val="56465443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4888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b="1"/>
                        <a:t>MAE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Mean Absolute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1.45 °C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2131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b="1"/>
                        <a:t>RMSE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Root Mean Squared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1.92 °C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6822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b="1"/>
                        <a:t>AIC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Model fit vs.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1184.27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623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b="1"/>
                        <a:t>BIC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Penalized likelihood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1210.53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228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468B851-BC3A-4F3C-9021-DF3840B4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066" y="1619787"/>
            <a:ext cx="53693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Body)"/>
              </a:rPr>
              <a:t>Model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Body)"/>
              </a:rPr>
              <a:t> SARIMA(5, 1, 0)(1, 1, 1, 24)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Body)"/>
              </a:rPr>
              <a:t>Forecast Horizon: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Body)"/>
              </a:rPr>
              <a:t> Next 24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Body)"/>
              </a:rPr>
              <a:t>Evaluation Metrics: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9502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919" y="2129826"/>
            <a:ext cx="8065294" cy="3766185"/>
          </a:xfrm>
        </p:spPr>
        <p:txBody>
          <a:bodyPr>
            <a:normAutofit/>
          </a:bodyPr>
          <a:lstStyle/>
          <a:p>
            <a:r>
              <a:rPr dirty="0"/>
              <a:t>✅ SARIMA is a robust forecasting model for seasonal time series.</a:t>
            </a:r>
          </a:p>
          <a:p>
            <a:r>
              <a:rPr dirty="0"/>
              <a:t>✅ It extends ARIMA by incorporating seasonal differencing and parameters.</a:t>
            </a:r>
          </a:p>
          <a:p>
            <a:r>
              <a:rPr dirty="0"/>
              <a:t>✅ Suitable for temperature, sales, energy consumption, and similar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38</TotalTime>
  <Words>557</Words>
  <Application>Microsoft Office PowerPoint</Application>
  <PresentationFormat>On-screen Show (4:3)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Calibri Light (Body)</vt:lpstr>
      <vt:lpstr>Metropolitan</vt:lpstr>
      <vt:lpstr>Capstone Project: Temperature Forecasting using SARIMA Model</vt:lpstr>
      <vt:lpstr>What is SARIMA?</vt:lpstr>
      <vt:lpstr>OBJECTIVE</vt:lpstr>
      <vt:lpstr>SARIMA Model Summary</vt:lpstr>
      <vt:lpstr>Forecast Visualization</vt:lpstr>
      <vt:lpstr>SARIMA MODEL INSIGHTS</vt:lpstr>
      <vt:lpstr>AIC and BIC in Model Evaluation</vt:lpstr>
      <vt:lpstr>ARIMA vs SARIMA (Performance Perspective)</vt:lpstr>
      <vt:lpstr>Results and Evaluation Metrics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Project: Temperature Forecasting using SARIMA Model</dc:title>
  <dc:subject/>
  <dc:creator/>
  <cp:keywords/>
  <dc:description>generated using python-pptx</dc:description>
  <cp:lastModifiedBy>pallavi pallu</cp:lastModifiedBy>
  <cp:revision>3</cp:revision>
  <dcterms:created xsi:type="dcterms:W3CDTF">2013-01-27T09:14:16Z</dcterms:created>
  <dcterms:modified xsi:type="dcterms:W3CDTF">2025-10-29T05:36:02Z</dcterms:modified>
  <cp:category/>
</cp:coreProperties>
</file>